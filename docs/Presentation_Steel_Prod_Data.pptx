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69CD7E-212B-4E48-A925-9D891B2952E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E0B4966-9D1B-45A0-952A-38001E1E125E}">
      <dgm:prSet/>
      <dgm:spPr/>
      <dgm:t>
        <a:bodyPr/>
        <a:lstStyle/>
        <a:p>
          <a:r>
            <a:rPr lang="en-US" b="1"/>
            <a:t>Predicting Steel Production Quality from Sensor Data</a:t>
          </a:r>
          <a:endParaRPr lang="en-US"/>
        </a:p>
      </dgm:t>
    </dgm:pt>
    <dgm:pt modelId="{31C093B4-C01D-4284-A660-FDB19C469526}" type="parTrans" cxnId="{C1DDD58B-05D8-4456-AC9B-518B3088EEA5}">
      <dgm:prSet/>
      <dgm:spPr/>
      <dgm:t>
        <a:bodyPr/>
        <a:lstStyle/>
        <a:p>
          <a:endParaRPr lang="en-US"/>
        </a:p>
      </dgm:t>
    </dgm:pt>
    <dgm:pt modelId="{2999D5F1-9C4A-414C-A3E8-A204951F30B1}" type="sibTrans" cxnId="{C1DDD58B-05D8-4456-AC9B-518B3088EEA5}">
      <dgm:prSet/>
      <dgm:spPr/>
      <dgm:t>
        <a:bodyPr/>
        <a:lstStyle/>
        <a:p>
          <a:endParaRPr lang="en-US"/>
        </a:p>
      </dgm:t>
    </dgm:pt>
    <dgm:pt modelId="{DCED19E0-166C-4C24-896C-3848540A4CA8}">
      <dgm:prSet/>
      <dgm:spPr/>
      <dgm:t>
        <a:bodyPr/>
        <a:lstStyle/>
        <a:p>
          <a:r>
            <a:rPr lang="en-US" b="1"/>
            <a:t>The Goal:</a:t>
          </a:r>
          <a:r>
            <a:rPr lang="en-US"/>
            <a:t> Predict a continuous quality output [0, 1] using 21 normalized process parameters.</a:t>
          </a:r>
        </a:p>
      </dgm:t>
    </dgm:pt>
    <dgm:pt modelId="{83D5BBC9-1F91-49EB-9E9B-CA78B77AED1E}" type="parTrans" cxnId="{E77BF13D-BB32-49E0-AD41-9C7C8FD44E12}">
      <dgm:prSet/>
      <dgm:spPr/>
      <dgm:t>
        <a:bodyPr/>
        <a:lstStyle/>
        <a:p>
          <a:endParaRPr lang="en-US"/>
        </a:p>
      </dgm:t>
    </dgm:pt>
    <dgm:pt modelId="{4A91792F-F443-487E-8147-7FBF4D918ADC}" type="sibTrans" cxnId="{E77BF13D-BB32-49E0-AD41-9C7C8FD44E12}">
      <dgm:prSet/>
      <dgm:spPr/>
      <dgm:t>
        <a:bodyPr/>
        <a:lstStyle/>
        <a:p>
          <a:endParaRPr lang="en-US"/>
        </a:p>
      </dgm:t>
    </dgm:pt>
    <dgm:pt modelId="{D3A989EC-F3A1-461A-A9E6-45A7858D8A59}">
      <dgm:prSet/>
      <dgm:spPr/>
      <dgm:t>
        <a:bodyPr/>
        <a:lstStyle/>
        <a:p>
          <a:r>
            <a:rPr lang="en-US" b="1"/>
            <a:t>Target:</a:t>
          </a:r>
          <a:r>
            <a:rPr lang="en-US"/>
            <a:t> Achieve an R2 score of ≥0.50 to prove predictive capability.</a:t>
          </a:r>
        </a:p>
      </dgm:t>
    </dgm:pt>
    <dgm:pt modelId="{104E30BF-8DC0-450D-870C-5CBAADAB7526}" type="parTrans" cxnId="{12AB99F4-8A59-426C-8CBE-B10F0713E3A0}">
      <dgm:prSet/>
      <dgm:spPr/>
      <dgm:t>
        <a:bodyPr/>
        <a:lstStyle/>
        <a:p>
          <a:endParaRPr lang="en-US"/>
        </a:p>
      </dgm:t>
    </dgm:pt>
    <dgm:pt modelId="{A8B524E3-39FD-45B7-A5D3-39DCE196A56D}" type="sibTrans" cxnId="{12AB99F4-8A59-426C-8CBE-B10F0713E3A0}">
      <dgm:prSet/>
      <dgm:spPr/>
      <dgm:t>
        <a:bodyPr/>
        <a:lstStyle/>
        <a:p>
          <a:endParaRPr lang="en-US"/>
        </a:p>
      </dgm:t>
    </dgm:pt>
    <dgm:pt modelId="{D389E3DD-9A9B-4262-9406-4D7D4072E71B}">
      <dgm:prSet/>
      <dgm:spPr/>
      <dgm:t>
        <a:bodyPr/>
        <a:lstStyle/>
        <a:p>
          <a:r>
            <a:rPr lang="en-US" b="1"/>
            <a:t>The Challenge:</a:t>
          </a:r>
          <a:r>
            <a:rPr lang="en-US"/>
            <a:t> High-dimensional industrial data with complex, non-linear interactions.</a:t>
          </a:r>
        </a:p>
      </dgm:t>
    </dgm:pt>
    <dgm:pt modelId="{FABCEC46-39A3-4940-A085-0307A1A40117}" type="parTrans" cxnId="{1FE6E3D0-617B-4C06-AAB7-EF040658B8C3}">
      <dgm:prSet/>
      <dgm:spPr/>
      <dgm:t>
        <a:bodyPr/>
        <a:lstStyle/>
        <a:p>
          <a:endParaRPr lang="en-US"/>
        </a:p>
      </dgm:t>
    </dgm:pt>
    <dgm:pt modelId="{91BEB5B7-A470-497B-A6A7-898BD1FF8007}" type="sibTrans" cxnId="{1FE6E3D0-617B-4C06-AAB7-EF040658B8C3}">
      <dgm:prSet/>
      <dgm:spPr/>
      <dgm:t>
        <a:bodyPr/>
        <a:lstStyle/>
        <a:p>
          <a:endParaRPr lang="en-US"/>
        </a:p>
      </dgm:t>
    </dgm:pt>
    <dgm:pt modelId="{13CE7DF6-EF21-40B4-A480-325E071CCC92}" type="pres">
      <dgm:prSet presAssocID="{BF69CD7E-212B-4E48-A925-9D891B2952ED}" presName="root" presStyleCnt="0">
        <dgm:presLayoutVars>
          <dgm:dir/>
          <dgm:resizeHandles val="exact"/>
        </dgm:presLayoutVars>
      </dgm:prSet>
      <dgm:spPr/>
    </dgm:pt>
    <dgm:pt modelId="{7D3535F8-482B-496B-BECE-410959E0D61B}" type="pres">
      <dgm:prSet presAssocID="{FE0B4966-9D1B-45A0-952A-38001E1E125E}" presName="compNode" presStyleCnt="0"/>
      <dgm:spPr/>
    </dgm:pt>
    <dgm:pt modelId="{51DDBE33-C32A-4E89-9FDE-4FF3154B34D0}" type="pres">
      <dgm:prSet presAssocID="{FE0B4966-9D1B-45A0-952A-38001E1E125E}" presName="bgRect" presStyleLbl="bgShp" presStyleIdx="0" presStyleCnt="4"/>
      <dgm:spPr/>
    </dgm:pt>
    <dgm:pt modelId="{61A4B1E9-DCD8-4A54-AB56-C1163B94D907}" type="pres">
      <dgm:prSet presAssocID="{FE0B4966-9D1B-45A0-952A-38001E1E125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hnräder"/>
        </a:ext>
      </dgm:extLst>
    </dgm:pt>
    <dgm:pt modelId="{94C81AFE-E056-4DFF-8182-2F506DCF453C}" type="pres">
      <dgm:prSet presAssocID="{FE0B4966-9D1B-45A0-952A-38001E1E125E}" presName="spaceRect" presStyleCnt="0"/>
      <dgm:spPr/>
    </dgm:pt>
    <dgm:pt modelId="{303F2497-EFFF-4316-A3E5-CD4F5439B8B5}" type="pres">
      <dgm:prSet presAssocID="{FE0B4966-9D1B-45A0-952A-38001E1E125E}" presName="parTx" presStyleLbl="revTx" presStyleIdx="0" presStyleCnt="4">
        <dgm:presLayoutVars>
          <dgm:chMax val="0"/>
          <dgm:chPref val="0"/>
        </dgm:presLayoutVars>
      </dgm:prSet>
      <dgm:spPr/>
    </dgm:pt>
    <dgm:pt modelId="{CF88383B-9061-4E30-880D-C6D926C70F2E}" type="pres">
      <dgm:prSet presAssocID="{2999D5F1-9C4A-414C-A3E8-A204951F30B1}" presName="sibTrans" presStyleCnt="0"/>
      <dgm:spPr/>
    </dgm:pt>
    <dgm:pt modelId="{05666F29-A30B-4D4E-94D0-49478A000A97}" type="pres">
      <dgm:prSet presAssocID="{DCED19E0-166C-4C24-896C-3848540A4CA8}" presName="compNode" presStyleCnt="0"/>
      <dgm:spPr/>
    </dgm:pt>
    <dgm:pt modelId="{9ED65956-A40D-43C9-AEA2-054F0BC0FED6}" type="pres">
      <dgm:prSet presAssocID="{DCED19E0-166C-4C24-896C-3848540A4CA8}" presName="bgRect" presStyleLbl="bgShp" presStyleIdx="1" presStyleCnt="4"/>
      <dgm:spPr/>
    </dgm:pt>
    <dgm:pt modelId="{B3DEB537-EB29-47E9-8E8A-A11ED20AF8ED}" type="pres">
      <dgm:prSet presAssocID="{DCED19E0-166C-4C24-896C-3848540A4CA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7CA7F0CB-71FB-4FEB-BE65-FC66A4CD6F91}" type="pres">
      <dgm:prSet presAssocID="{DCED19E0-166C-4C24-896C-3848540A4CA8}" presName="spaceRect" presStyleCnt="0"/>
      <dgm:spPr/>
    </dgm:pt>
    <dgm:pt modelId="{DA3536F5-487A-425D-8B87-AF2F69550F78}" type="pres">
      <dgm:prSet presAssocID="{DCED19E0-166C-4C24-896C-3848540A4CA8}" presName="parTx" presStyleLbl="revTx" presStyleIdx="1" presStyleCnt="4">
        <dgm:presLayoutVars>
          <dgm:chMax val="0"/>
          <dgm:chPref val="0"/>
        </dgm:presLayoutVars>
      </dgm:prSet>
      <dgm:spPr/>
    </dgm:pt>
    <dgm:pt modelId="{16898DF7-AA7B-4798-9CCA-20D38DD6808F}" type="pres">
      <dgm:prSet presAssocID="{4A91792F-F443-487E-8147-7FBF4D918ADC}" presName="sibTrans" presStyleCnt="0"/>
      <dgm:spPr/>
    </dgm:pt>
    <dgm:pt modelId="{F66784B3-1AB1-4664-B9F6-1D11FD02189F}" type="pres">
      <dgm:prSet presAssocID="{D3A989EC-F3A1-461A-A9E6-45A7858D8A59}" presName="compNode" presStyleCnt="0"/>
      <dgm:spPr/>
    </dgm:pt>
    <dgm:pt modelId="{7E2D046D-1520-4BAD-82A8-49A31D6AFCC8}" type="pres">
      <dgm:prSet presAssocID="{D3A989EC-F3A1-461A-A9E6-45A7858D8A59}" presName="bgRect" presStyleLbl="bgShp" presStyleIdx="2" presStyleCnt="4"/>
      <dgm:spPr/>
    </dgm:pt>
    <dgm:pt modelId="{1B8959D9-52A0-4B18-B114-ADDE831C8037}" type="pres">
      <dgm:prSet presAssocID="{D3A989EC-F3A1-461A-A9E6-45A7858D8A5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ltreffer"/>
        </a:ext>
      </dgm:extLst>
    </dgm:pt>
    <dgm:pt modelId="{3DAEC7F8-FC78-4D2D-9C69-4282E2A3FD39}" type="pres">
      <dgm:prSet presAssocID="{D3A989EC-F3A1-461A-A9E6-45A7858D8A59}" presName="spaceRect" presStyleCnt="0"/>
      <dgm:spPr/>
    </dgm:pt>
    <dgm:pt modelId="{7F95D54A-9273-412A-8C94-C4E5CE8AC99A}" type="pres">
      <dgm:prSet presAssocID="{D3A989EC-F3A1-461A-A9E6-45A7858D8A59}" presName="parTx" presStyleLbl="revTx" presStyleIdx="2" presStyleCnt="4">
        <dgm:presLayoutVars>
          <dgm:chMax val="0"/>
          <dgm:chPref val="0"/>
        </dgm:presLayoutVars>
      </dgm:prSet>
      <dgm:spPr/>
    </dgm:pt>
    <dgm:pt modelId="{886B260A-3117-46E9-8ED7-E683939F9E60}" type="pres">
      <dgm:prSet presAssocID="{A8B524E3-39FD-45B7-A5D3-39DCE196A56D}" presName="sibTrans" presStyleCnt="0"/>
      <dgm:spPr/>
    </dgm:pt>
    <dgm:pt modelId="{5CF265CD-2A99-42CD-B503-C82B2BC593CE}" type="pres">
      <dgm:prSet presAssocID="{D389E3DD-9A9B-4262-9406-4D7D4072E71B}" presName="compNode" presStyleCnt="0"/>
      <dgm:spPr/>
    </dgm:pt>
    <dgm:pt modelId="{4A3CAEF4-15DB-4791-BAAF-2A81E91A234C}" type="pres">
      <dgm:prSet presAssocID="{D389E3DD-9A9B-4262-9406-4D7D4072E71B}" presName="bgRect" presStyleLbl="bgShp" presStyleIdx="3" presStyleCnt="4"/>
      <dgm:spPr/>
    </dgm:pt>
    <dgm:pt modelId="{AE08B342-8878-4544-A2EC-AEB035217944}" type="pres">
      <dgm:prSet presAssocID="{D389E3DD-9A9B-4262-9406-4D7D4072E71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C49E24AB-7792-4313-8C50-F21EF6288705}" type="pres">
      <dgm:prSet presAssocID="{D389E3DD-9A9B-4262-9406-4D7D4072E71B}" presName="spaceRect" presStyleCnt="0"/>
      <dgm:spPr/>
    </dgm:pt>
    <dgm:pt modelId="{A274C55E-085C-4A81-84EC-21B72FA5F6EE}" type="pres">
      <dgm:prSet presAssocID="{D389E3DD-9A9B-4262-9406-4D7D4072E71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944C71E-4DC7-4D46-AE1B-C0C6BF079E4D}" type="presOf" srcId="{D3A989EC-F3A1-461A-A9E6-45A7858D8A59}" destId="{7F95D54A-9273-412A-8C94-C4E5CE8AC99A}" srcOrd="0" destOrd="0" presId="urn:microsoft.com/office/officeart/2018/2/layout/IconVerticalSolidList"/>
    <dgm:cxn modelId="{35DF2E34-5DE9-4A7D-B256-CB1362F18E96}" type="presOf" srcId="{DCED19E0-166C-4C24-896C-3848540A4CA8}" destId="{DA3536F5-487A-425D-8B87-AF2F69550F78}" srcOrd="0" destOrd="0" presId="urn:microsoft.com/office/officeart/2018/2/layout/IconVerticalSolidList"/>
    <dgm:cxn modelId="{E77BF13D-BB32-49E0-AD41-9C7C8FD44E12}" srcId="{BF69CD7E-212B-4E48-A925-9D891B2952ED}" destId="{DCED19E0-166C-4C24-896C-3848540A4CA8}" srcOrd="1" destOrd="0" parTransId="{83D5BBC9-1F91-49EB-9E9B-CA78B77AED1E}" sibTransId="{4A91792F-F443-487E-8147-7FBF4D918ADC}"/>
    <dgm:cxn modelId="{C1DDD58B-05D8-4456-AC9B-518B3088EEA5}" srcId="{BF69CD7E-212B-4E48-A925-9D891B2952ED}" destId="{FE0B4966-9D1B-45A0-952A-38001E1E125E}" srcOrd="0" destOrd="0" parTransId="{31C093B4-C01D-4284-A660-FDB19C469526}" sibTransId="{2999D5F1-9C4A-414C-A3E8-A204951F30B1}"/>
    <dgm:cxn modelId="{074CB3A1-D4BB-4FE2-973C-6675EBE15DCB}" type="presOf" srcId="{FE0B4966-9D1B-45A0-952A-38001E1E125E}" destId="{303F2497-EFFF-4316-A3E5-CD4F5439B8B5}" srcOrd="0" destOrd="0" presId="urn:microsoft.com/office/officeart/2018/2/layout/IconVerticalSolidList"/>
    <dgm:cxn modelId="{1FE6E3D0-617B-4C06-AAB7-EF040658B8C3}" srcId="{BF69CD7E-212B-4E48-A925-9D891B2952ED}" destId="{D389E3DD-9A9B-4262-9406-4D7D4072E71B}" srcOrd="3" destOrd="0" parTransId="{FABCEC46-39A3-4940-A085-0307A1A40117}" sibTransId="{91BEB5B7-A470-497B-A6A7-898BD1FF8007}"/>
    <dgm:cxn modelId="{A82FE8ED-221C-4153-9691-C0BA52D8CC1A}" type="presOf" srcId="{BF69CD7E-212B-4E48-A925-9D891B2952ED}" destId="{13CE7DF6-EF21-40B4-A480-325E071CCC92}" srcOrd="0" destOrd="0" presId="urn:microsoft.com/office/officeart/2018/2/layout/IconVerticalSolidList"/>
    <dgm:cxn modelId="{12AB99F4-8A59-426C-8CBE-B10F0713E3A0}" srcId="{BF69CD7E-212B-4E48-A925-9D891B2952ED}" destId="{D3A989EC-F3A1-461A-A9E6-45A7858D8A59}" srcOrd="2" destOrd="0" parTransId="{104E30BF-8DC0-450D-870C-5CBAADAB7526}" sibTransId="{A8B524E3-39FD-45B7-A5D3-39DCE196A56D}"/>
    <dgm:cxn modelId="{02E4ACF7-C0C0-4863-BB35-C624898F6533}" type="presOf" srcId="{D389E3DD-9A9B-4262-9406-4D7D4072E71B}" destId="{A274C55E-085C-4A81-84EC-21B72FA5F6EE}" srcOrd="0" destOrd="0" presId="urn:microsoft.com/office/officeart/2018/2/layout/IconVerticalSolidList"/>
    <dgm:cxn modelId="{5F2D9F8D-2A6F-41A1-A137-7F5C7D599551}" type="presParOf" srcId="{13CE7DF6-EF21-40B4-A480-325E071CCC92}" destId="{7D3535F8-482B-496B-BECE-410959E0D61B}" srcOrd="0" destOrd="0" presId="urn:microsoft.com/office/officeart/2018/2/layout/IconVerticalSolidList"/>
    <dgm:cxn modelId="{7CF3BE82-0F72-40BF-9522-24CF7D770587}" type="presParOf" srcId="{7D3535F8-482B-496B-BECE-410959E0D61B}" destId="{51DDBE33-C32A-4E89-9FDE-4FF3154B34D0}" srcOrd="0" destOrd="0" presId="urn:microsoft.com/office/officeart/2018/2/layout/IconVerticalSolidList"/>
    <dgm:cxn modelId="{D9E79F01-246F-4D78-8092-21851A64CEA4}" type="presParOf" srcId="{7D3535F8-482B-496B-BECE-410959E0D61B}" destId="{61A4B1E9-DCD8-4A54-AB56-C1163B94D907}" srcOrd="1" destOrd="0" presId="urn:microsoft.com/office/officeart/2018/2/layout/IconVerticalSolidList"/>
    <dgm:cxn modelId="{0D7FC3FD-1354-474E-B9ED-1BA602F5F139}" type="presParOf" srcId="{7D3535F8-482B-496B-BECE-410959E0D61B}" destId="{94C81AFE-E056-4DFF-8182-2F506DCF453C}" srcOrd="2" destOrd="0" presId="urn:microsoft.com/office/officeart/2018/2/layout/IconVerticalSolidList"/>
    <dgm:cxn modelId="{2291B805-05A4-45F5-9386-CF1A7F84FF0D}" type="presParOf" srcId="{7D3535F8-482B-496B-BECE-410959E0D61B}" destId="{303F2497-EFFF-4316-A3E5-CD4F5439B8B5}" srcOrd="3" destOrd="0" presId="urn:microsoft.com/office/officeart/2018/2/layout/IconVerticalSolidList"/>
    <dgm:cxn modelId="{454F569A-1555-44A4-831A-ACA25C640064}" type="presParOf" srcId="{13CE7DF6-EF21-40B4-A480-325E071CCC92}" destId="{CF88383B-9061-4E30-880D-C6D926C70F2E}" srcOrd="1" destOrd="0" presId="urn:microsoft.com/office/officeart/2018/2/layout/IconVerticalSolidList"/>
    <dgm:cxn modelId="{BAF47027-28E8-4C53-9D3B-B94E8D7F18EB}" type="presParOf" srcId="{13CE7DF6-EF21-40B4-A480-325E071CCC92}" destId="{05666F29-A30B-4D4E-94D0-49478A000A97}" srcOrd="2" destOrd="0" presId="urn:microsoft.com/office/officeart/2018/2/layout/IconVerticalSolidList"/>
    <dgm:cxn modelId="{E6A96789-B862-414C-996D-DFC2DC6FD7EB}" type="presParOf" srcId="{05666F29-A30B-4D4E-94D0-49478A000A97}" destId="{9ED65956-A40D-43C9-AEA2-054F0BC0FED6}" srcOrd="0" destOrd="0" presId="urn:microsoft.com/office/officeart/2018/2/layout/IconVerticalSolidList"/>
    <dgm:cxn modelId="{C0545ACE-73A3-4B8D-8EA1-FC37BE2C33B6}" type="presParOf" srcId="{05666F29-A30B-4D4E-94D0-49478A000A97}" destId="{B3DEB537-EB29-47E9-8E8A-A11ED20AF8ED}" srcOrd="1" destOrd="0" presId="urn:microsoft.com/office/officeart/2018/2/layout/IconVerticalSolidList"/>
    <dgm:cxn modelId="{E710CA68-B9C7-428F-9B86-41AEFAEDB00E}" type="presParOf" srcId="{05666F29-A30B-4D4E-94D0-49478A000A97}" destId="{7CA7F0CB-71FB-4FEB-BE65-FC66A4CD6F91}" srcOrd="2" destOrd="0" presId="urn:microsoft.com/office/officeart/2018/2/layout/IconVerticalSolidList"/>
    <dgm:cxn modelId="{F33C50EF-E894-40F6-AB99-2A171B5FED49}" type="presParOf" srcId="{05666F29-A30B-4D4E-94D0-49478A000A97}" destId="{DA3536F5-487A-425D-8B87-AF2F69550F78}" srcOrd="3" destOrd="0" presId="urn:microsoft.com/office/officeart/2018/2/layout/IconVerticalSolidList"/>
    <dgm:cxn modelId="{BA001F55-7321-46AC-9015-5DB34A9FA591}" type="presParOf" srcId="{13CE7DF6-EF21-40B4-A480-325E071CCC92}" destId="{16898DF7-AA7B-4798-9CCA-20D38DD6808F}" srcOrd="3" destOrd="0" presId="urn:microsoft.com/office/officeart/2018/2/layout/IconVerticalSolidList"/>
    <dgm:cxn modelId="{F79E0D21-B67D-4355-8C56-0C570192DE63}" type="presParOf" srcId="{13CE7DF6-EF21-40B4-A480-325E071CCC92}" destId="{F66784B3-1AB1-4664-B9F6-1D11FD02189F}" srcOrd="4" destOrd="0" presId="urn:microsoft.com/office/officeart/2018/2/layout/IconVerticalSolidList"/>
    <dgm:cxn modelId="{4417452C-DDFD-4F8A-84B5-92C2CAEA6F16}" type="presParOf" srcId="{F66784B3-1AB1-4664-B9F6-1D11FD02189F}" destId="{7E2D046D-1520-4BAD-82A8-49A31D6AFCC8}" srcOrd="0" destOrd="0" presId="urn:microsoft.com/office/officeart/2018/2/layout/IconVerticalSolidList"/>
    <dgm:cxn modelId="{9D39C8E9-FD87-438A-82ED-50D5CC4A640D}" type="presParOf" srcId="{F66784B3-1AB1-4664-B9F6-1D11FD02189F}" destId="{1B8959D9-52A0-4B18-B114-ADDE831C8037}" srcOrd="1" destOrd="0" presId="urn:microsoft.com/office/officeart/2018/2/layout/IconVerticalSolidList"/>
    <dgm:cxn modelId="{404B130A-8DA6-4145-896A-B5F10F51D55E}" type="presParOf" srcId="{F66784B3-1AB1-4664-B9F6-1D11FD02189F}" destId="{3DAEC7F8-FC78-4D2D-9C69-4282E2A3FD39}" srcOrd="2" destOrd="0" presId="urn:microsoft.com/office/officeart/2018/2/layout/IconVerticalSolidList"/>
    <dgm:cxn modelId="{C5041C8F-47EB-444A-AF8A-3BA8ED5FC8B8}" type="presParOf" srcId="{F66784B3-1AB1-4664-B9F6-1D11FD02189F}" destId="{7F95D54A-9273-412A-8C94-C4E5CE8AC99A}" srcOrd="3" destOrd="0" presId="urn:microsoft.com/office/officeart/2018/2/layout/IconVerticalSolidList"/>
    <dgm:cxn modelId="{7C3F6FE8-6DD9-4601-A87C-3532B7DB3B6D}" type="presParOf" srcId="{13CE7DF6-EF21-40B4-A480-325E071CCC92}" destId="{886B260A-3117-46E9-8ED7-E683939F9E60}" srcOrd="5" destOrd="0" presId="urn:microsoft.com/office/officeart/2018/2/layout/IconVerticalSolidList"/>
    <dgm:cxn modelId="{FA84F5B6-1999-4B48-AA0C-DDCCF324CA51}" type="presParOf" srcId="{13CE7DF6-EF21-40B4-A480-325E071CCC92}" destId="{5CF265CD-2A99-42CD-B503-C82B2BC593CE}" srcOrd="6" destOrd="0" presId="urn:microsoft.com/office/officeart/2018/2/layout/IconVerticalSolidList"/>
    <dgm:cxn modelId="{B6D1B106-0E1C-4FE0-A33B-D25C801A02D0}" type="presParOf" srcId="{5CF265CD-2A99-42CD-B503-C82B2BC593CE}" destId="{4A3CAEF4-15DB-4791-BAAF-2A81E91A234C}" srcOrd="0" destOrd="0" presId="urn:microsoft.com/office/officeart/2018/2/layout/IconVerticalSolidList"/>
    <dgm:cxn modelId="{21E4D4FF-C3CC-4481-8046-741937E6A8CE}" type="presParOf" srcId="{5CF265CD-2A99-42CD-B503-C82B2BC593CE}" destId="{AE08B342-8878-4544-A2EC-AEB035217944}" srcOrd="1" destOrd="0" presId="urn:microsoft.com/office/officeart/2018/2/layout/IconVerticalSolidList"/>
    <dgm:cxn modelId="{D63A3A05-DE09-4907-88AF-D59A89C87029}" type="presParOf" srcId="{5CF265CD-2A99-42CD-B503-C82B2BC593CE}" destId="{C49E24AB-7792-4313-8C50-F21EF6288705}" srcOrd="2" destOrd="0" presId="urn:microsoft.com/office/officeart/2018/2/layout/IconVerticalSolidList"/>
    <dgm:cxn modelId="{DE2B70C9-A01B-4EE4-BB00-8401C00E6FA8}" type="presParOf" srcId="{5CF265CD-2A99-42CD-B503-C82B2BC593CE}" destId="{A274C55E-085C-4A81-84EC-21B72FA5F6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DDBE33-C32A-4E89-9FDE-4FF3154B34D0}">
      <dsp:nvSpPr>
        <dsp:cNvPr id="0" name=""/>
        <dsp:cNvSpPr/>
      </dsp:nvSpPr>
      <dsp:spPr>
        <a:xfrm>
          <a:off x="0" y="2079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4B1E9-DCD8-4A54-AB56-C1163B94D907}">
      <dsp:nvSpPr>
        <dsp:cNvPr id="0" name=""/>
        <dsp:cNvSpPr/>
      </dsp:nvSpPr>
      <dsp:spPr>
        <a:xfrm>
          <a:off x="318851" y="239241"/>
          <a:ext cx="579729" cy="5797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3F2497-EFFF-4316-A3E5-CD4F5439B8B5}">
      <dsp:nvSpPr>
        <dsp:cNvPr id="0" name=""/>
        <dsp:cNvSpPr/>
      </dsp:nvSpPr>
      <dsp:spPr>
        <a:xfrm>
          <a:off x="1217431" y="2079"/>
          <a:ext cx="6088624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Predicting Steel Production Quality from Sensor Data</a:t>
          </a:r>
          <a:endParaRPr lang="en-US" sz="2200" kern="1200"/>
        </a:p>
      </dsp:txBody>
      <dsp:txXfrm>
        <a:off x="1217431" y="2079"/>
        <a:ext cx="6088624" cy="1054053"/>
      </dsp:txXfrm>
    </dsp:sp>
    <dsp:sp modelId="{9ED65956-A40D-43C9-AEA2-054F0BC0FED6}">
      <dsp:nvSpPr>
        <dsp:cNvPr id="0" name=""/>
        <dsp:cNvSpPr/>
      </dsp:nvSpPr>
      <dsp:spPr>
        <a:xfrm>
          <a:off x="0" y="1319646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DEB537-EB29-47E9-8E8A-A11ED20AF8ED}">
      <dsp:nvSpPr>
        <dsp:cNvPr id="0" name=""/>
        <dsp:cNvSpPr/>
      </dsp:nvSpPr>
      <dsp:spPr>
        <a:xfrm>
          <a:off x="318851" y="1556808"/>
          <a:ext cx="579729" cy="5797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536F5-487A-425D-8B87-AF2F69550F78}">
      <dsp:nvSpPr>
        <dsp:cNvPr id="0" name=""/>
        <dsp:cNvSpPr/>
      </dsp:nvSpPr>
      <dsp:spPr>
        <a:xfrm>
          <a:off x="1217431" y="1319646"/>
          <a:ext cx="6088624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The Goal:</a:t>
          </a:r>
          <a:r>
            <a:rPr lang="en-US" sz="2200" kern="1200"/>
            <a:t> Predict a continuous quality output [0, 1] using 21 normalized process parameters.</a:t>
          </a:r>
        </a:p>
      </dsp:txBody>
      <dsp:txXfrm>
        <a:off x="1217431" y="1319646"/>
        <a:ext cx="6088624" cy="1054053"/>
      </dsp:txXfrm>
    </dsp:sp>
    <dsp:sp modelId="{7E2D046D-1520-4BAD-82A8-49A31D6AFCC8}">
      <dsp:nvSpPr>
        <dsp:cNvPr id="0" name=""/>
        <dsp:cNvSpPr/>
      </dsp:nvSpPr>
      <dsp:spPr>
        <a:xfrm>
          <a:off x="0" y="2637212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8959D9-52A0-4B18-B114-ADDE831C8037}">
      <dsp:nvSpPr>
        <dsp:cNvPr id="0" name=""/>
        <dsp:cNvSpPr/>
      </dsp:nvSpPr>
      <dsp:spPr>
        <a:xfrm>
          <a:off x="318851" y="2874374"/>
          <a:ext cx="579729" cy="5797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95D54A-9273-412A-8C94-C4E5CE8AC99A}">
      <dsp:nvSpPr>
        <dsp:cNvPr id="0" name=""/>
        <dsp:cNvSpPr/>
      </dsp:nvSpPr>
      <dsp:spPr>
        <a:xfrm>
          <a:off x="1217431" y="2637212"/>
          <a:ext cx="6088624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Target:</a:t>
          </a:r>
          <a:r>
            <a:rPr lang="en-US" sz="2200" kern="1200"/>
            <a:t> Achieve an R2 score of ≥0.50 to prove predictive capability.</a:t>
          </a:r>
        </a:p>
      </dsp:txBody>
      <dsp:txXfrm>
        <a:off x="1217431" y="2637212"/>
        <a:ext cx="6088624" cy="1054053"/>
      </dsp:txXfrm>
    </dsp:sp>
    <dsp:sp modelId="{4A3CAEF4-15DB-4791-BAAF-2A81E91A234C}">
      <dsp:nvSpPr>
        <dsp:cNvPr id="0" name=""/>
        <dsp:cNvSpPr/>
      </dsp:nvSpPr>
      <dsp:spPr>
        <a:xfrm>
          <a:off x="0" y="3954779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08B342-8878-4544-A2EC-AEB035217944}">
      <dsp:nvSpPr>
        <dsp:cNvPr id="0" name=""/>
        <dsp:cNvSpPr/>
      </dsp:nvSpPr>
      <dsp:spPr>
        <a:xfrm>
          <a:off x="318851" y="4191941"/>
          <a:ext cx="579729" cy="5797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4C55E-085C-4A81-84EC-21B72FA5F6EE}">
      <dsp:nvSpPr>
        <dsp:cNvPr id="0" name=""/>
        <dsp:cNvSpPr/>
      </dsp:nvSpPr>
      <dsp:spPr>
        <a:xfrm>
          <a:off x="1217431" y="3954779"/>
          <a:ext cx="6088624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The Challenge:</a:t>
          </a:r>
          <a:r>
            <a:rPr lang="en-US" sz="2200" kern="1200"/>
            <a:t> High-dimensional industrial data with complex, non-linear interactions.</a:t>
          </a:r>
        </a:p>
      </dsp:txBody>
      <dsp:txXfrm>
        <a:off x="1217431" y="3954779"/>
        <a:ext cx="6088624" cy="10540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1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70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22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79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6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23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3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4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4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87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854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65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Nervenzellen des menschlichen Gehirns">
            <a:extLst>
              <a:ext uri="{FF2B5EF4-FFF2-40B4-BE49-F238E27FC236}">
                <a16:creationId xmlns:a16="http://schemas.microsoft.com/office/drawing/2014/main" id="{98ADC0D8-5BA8-09EA-29A2-514656CF26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AC1287C-1DD6-6F6D-E2DD-3625F1662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de-DE" sz="4400" dirty="0"/>
              <a:t>P1- Steel </a:t>
            </a:r>
            <a:r>
              <a:rPr lang="de-DE" sz="4400" dirty="0" err="1"/>
              <a:t>Production</a:t>
            </a:r>
            <a:r>
              <a:rPr lang="de-DE" sz="4400" dirty="0"/>
              <a:t> Data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5BFE34A-3B0C-1EE0-5CC3-719C8E808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58400" y="5739969"/>
            <a:ext cx="1938884" cy="960120"/>
          </a:xfrm>
        </p:spPr>
        <p:txBody>
          <a:bodyPr anchor="ctr">
            <a:normAutofit/>
          </a:bodyPr>
          <a:lstStyle/>
          <a:p>
            <a:pPr algn="r"/>
            <a:r>
              <a:rPr lang="de-DE" sz="1900" dirty="0"/>
              <a:t>Markus Strümpl</a:t>
            </a:r>
          </a:p>
          <a:p>
            <a:pPr algn="r"/>
            <a:r>
              <a:rPr lang="de-DE" sz="2000" dirty="0"/>
              <a:t>190.015 AML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5B6D30C6-B786-A1F1-4548-FB2997CBAB6B}"/>
              </a:ext>
            </a:extLst>
          </p:cNvPr>
          <p:cNvSpPr txBox="1">
            <a:spLocks/>
          </p:cNvSpPr>
          <p:nvPr/>
        </p:nvSpPr>
        <p:spPr>
          <a:xfrm>
            <a:off x="8039100" y="5818925"/>
            <a:ext cx="1938884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2000" dirty="0"/>
              <a:t>16.01.2025</a:t>
            </a:r>
          </a:p>
        </p:txBody>
      </p:sp>
    </p:spTree>
    <p:extLst>
      <p:ext uri="{BB962C8B-B14F-4D97-AF65-F5344CB8AC3E}">
        <p14:creationId xmlns:p14="http://schemas.microsoft.com/office/powerpoint/2010/main" val="89230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A27CDFE-7F8A-B015-26B2-F32C39B23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de-DE" sz="4000"/>
              <a:t>Project Overview &amp; Objectives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BC45D10C-AACF-5B28-15CE-4B37027912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6447215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fik 5" descr="Ein Bild, das Text, Screenshot, Diagramm, Farbigkeit enthält.&#10;&#10;KI-generierte Inhalte können fehlerhaft sein.">
            <a:extLst>
              <a:ext uri="{FF2B5EF4-FFF2-40B4-BE49-F238E27FC236}">
                <a16:creationId xmlns:a16="http://schemas.microsoft.com/office/drawing/2014/main" id="{AA8D1B3A-AB85-D3BC-83D4-D941B797A1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800" y="2924785"/>
            <a:ext cx="3864568" cy="306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934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2C3EE7-C3DA-832C-883C-5B8698147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6012" y="1064613"/>
            <a:ext cx="4867526" cy="37673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Regression </a:t>
            </a:r>
            <a:r>
              <a:rPr lang="en-US" b="1" dirty="0" err="1"/>
              <a:t>Modles</a:t>
            </a:r>
            <a:r>
              <a:rPr lang="en-US" b="1" dirty="0"/>
              <a:t> &amp; Shallow DNNs</a:t>
            </a:r>
            <a:endParaRPr lang="en-US" dirty="0"/>
          </a:p>
          <a:p>
            <a:r>
              <a:rPr lang="en-US" b="1" dirty="0"/>
              <a:t>Linear Regression (R2≈0.25):</a:t>
            </a:r>
            <a:r>
              <a:rPr lang="en-US" dirty="0"/>
              <a:t> Failed to capture the distributed signal. Proved that steel quality cannot be modeled by simple additive weights.</a:t>
            </a:r>
          </a:p>
          <a:p>
            <a:r>
              <a:rPr lang="en-US" b="1" dirty="0"/>
              <a:t>Random Forest (R2≈0.47):</a:t>
            </a:r>
            <a:r>
              <a:rPr lang="en-US" dirty="0"/>
              <a:t> Improved significantly by branching through feature interactions, but hit a ceiling due to the discrete nature of the output.</a:t>
            </a:r>
          </a:p>
          <a:p>
            <a:r>
              <a:rPr lang="en-US" b="1" dirty="0"/>
              <a:t>Shallow Neural Network (R2≈0.32):</a:t>
            </a:r>
            <a:r>
              <a:rPr lang="en-US" dirty="0"/>
              <a:t> Reached R2≈0.39. It confirmed that non-linear architectures are necessary but showed that basic layers still missed local process details.</a:t>
            </a:r>
          </a:p>
          <a:p>
            <a:endParaRPr lang="de-DE" dirty="0"/>
          </a:p>
        </p:txBody>
      </p:sp>
      <p:pic>
        <p:nvPicPr>
          <p:cNvPr id="5" name="Grafik 4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A4C2F926-29A3-00AD-5CFE-92FD13483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12" y="785800"/>
            <a:ext cx="5525271" cy="4324954"/>
          </a:xfrm>
          <a:prstGeom prst="rect">
            <a:avLst/>
          </a:prstGeom>
        </p:spPr>
      </p:pic>
      <p:pic>
        <p:nvPicPr>
          <p:cNvPr id="7" name="Grafik 6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E3AA857D-1F6F-150C-C60C-C4C808DB3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54" y="5080203"/>
            <a:ext cx="4711563" cy="472908"/>
          </a:xfrm>
          <a:prstGeom prst="rect">
            <a:avLst/>
          </a:prstGeom>
        </p:spPr>
      </p:pic>
      <p:pic>
        <p:nvPicPr>
          <p:cNvPr id="9" name="Grafik 8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D5500A27-8B1B-4191-027E-A544B767B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454" y="5553111"/>
            <a:ext cx="4711563" cy="108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95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0C860E-1157-A257-4695-49F9F81A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Why Simple Models Were Destined to Fail</a:t>
            </a:r>
            <a:br>
              <a:rPr lang="en-US" sz="2800" dirty="0"/>
            </a:br>
            <a:endParaRPr lang="de-DE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Grafik 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EE14CB26-7DB5-1AF2-FCB5-A9BB2C394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2429691"/>
            <a:ext cx="4880140" cy="3916313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1942B8-489F-7631-01F0-C0C2EB894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 b="1" dirty="0"/>
              <a:t>Distributed Information:</a:t>
            </a:r>
            <a:r>
              <a:rPr lang="en-US" dirty="0"/>
              <a:t> PCA revealed that the first two components only explain </a:t>
            </a:r>
            <a:r>
              <a:rPr lang="en-US" b="1" dirty="0"/>
              <a:t>43% of the variance</a:t>
            </a:r>
            <a:r>
              <a:rPr lang="en-US" dirty="0"/>
              <a:t>.</a:t>
            </a:r>
          </a:p>
          <a:p>
            <a:r>
              <a:rPr lang="en-US" b="1" dirty="0"/>
              <a:t>Dimensionality:</a:t>
            </a:r>
            <a:r>
              <a:rPr lang="en-US" dirty="0"/>
              <a:t> It takes 11+ components to reach 90% variance, proving there are no "shortcuts" or single dominant sensors.</a:t>
            </a:r>
          </a:p>
          <a:p>
            <a:r>
              <a:rPr lang="en-US" b="1" dirty="0"/>
              <a:t>Finding:</a:t>
            </a:r>
            <a:r>
              <a:rPr lang="en-US" dirty="0"/>
              <a:t> The data is non-linear and "rugged." Information is spread across almost all 21 inputs, requiring models that can look at many features simultaneously.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8878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C5EDFC-0A51-09E8-690A-B876B71D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400"/>
              <a:t>The Deep Learning Pivot</a:t>
            </a:r>
            <a:br>
              <a:rPr lang="de-DE" sz="2400"/>
            </a:br>
            <a:br>
              <a:rPr lang="de-DE" sz="2400"/>
            </a:br>
            <a:r>
              <a:rPr lang="en-US" sz="2400"/>
              <a:t>Optimizing the Neural Network (</a:t>
            </a:r>
            <a:r>
              <a:rPr lang="en-US" sz="2400" err="1"/>
              <a:t>NNopt</a:t>
            </a:r>
            <a:r>
              <a:rPr lang="en-US" sz="2400"/>
              <a:t>)</a:t>
            </a:r>
            <a:endParaRPr lang="de-DE" sz="2400"/>
          </a:p>
        </p:txBody>
      </p:sp>
      <p:pic>
        <p:nvPicPr>
          <p:cNvPr id="9" name="Grafik 8" descr="Ein Bild, das Reihe, Diagramm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38916CE2-30E7-4D90-493F-90CBE7A49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45" y="773761"/>
            <a:ext cx="4959823" cy="1872333"/>
          </a:xfrm>
          <a:prstGeom prst="rect">
            <a:avLst/>
          </a:prstGeom>
        </p:spPr>
      </p:pic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791A292-5C34-EE04-BCBE-399EFDB214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de-DE" altLang="de-DE" sz="15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Advanced</a:t>
            </a:r>
            <a:r>
              <a:rPr kumimoji="0" lang="de-DE" altLang="de-DE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Architecture: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Moved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to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deeper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6-layer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structure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lang="de-DE" sz="1500" dirty="0"/>
              <a:t>512→256→128→64→64→1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with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BatchNormalization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de-DE" altLang="de-DE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Dropout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pPr marL="230400" lvl="0" indent="0" eaLnBrk="0" fontAlgn="base" hangingPunct="0">
              <a:lnSpc>
                <a:spcPct val="100000"/>
              </a:lnSpc>
              <a:buNone/>
            </a:pPr>
            <a:endParaRPr kumimoji="0" lang="de-DE" altLang="de-DE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Adaptive </a:t>
            </a:r>
            <a:r>
              <a:rPr kumimoji="0" lang="de-DE" altLang="de-DE" sz="15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Strategies</a:t>
            </a:r>
            <a:r>
              <a:rPr kumimoji="0" lang="de-DE" altLang="de-DE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Implemented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ReduceLROnPlateau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and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EarlyStopping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to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navigate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the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loss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</a:rPr>
              <a:t>landscape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de-DE" altLang="de-DE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Robust Loss: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Switched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to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Huber Loss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to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handle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outliers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discrete-looking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output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strips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more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effectively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de-DE" altLang="de-DE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de-DE" altLang="de-DE" sz="15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Result</a:t>
            </a:r>
            <a:r>
              <a:rPr kumimoji="0" lang="de-DE" altLang="de-DE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Pushed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performance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de-DE" altLang="de-DE" sz="1500" dirty="0" err="1">
                <a:latin typeface="Arial" panose="020B0604020202020204" pitchFamily="34" charset="0"/>
              </a:rPr>
              <a:t>from</a:t>
            </a:r>
            <a:r>
              <a:rPr lang="de-DE" altLang="de-DE" sz="1500" dirty="0">
                <a:latin typeface="Arial" panose="020B0604020202020204" pitchFamily="34" charset="0"/>
              </a:rPr>
              <a:t> R2≈ 0.32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de-DE" altLang="de-DE" sz="1500" dirty="0" err="1">
                <a:latin typeface="Arial" panose="020B0604020202020204" pitchFamily="34" charset="0"/>
              </a:rPr>
              <a:t>to</a:t>
            </a:r>
            <a:r>
              <a:rPr lang="de-DE" altLang="de-DE" sz="1500" dirty="0">
                <a:latin typeface="Arial" panose="020B0604020202020204" pitchFamily="34" charset="0"/>
              </a:rPr>
              <a:t> ≈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0.43, but still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fell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short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of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0.50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target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3" name="Grafik 12" descr="Ein Bild, das Reihe, Quittung, Diagramm enthält.&#10;&#10;KI-generierte Inhalte können fehlerhaft sein.">
            <a:extLst>
              <a:ext uri="{FF2B5EF4-FFF2-40B4-BE49-F238E27FC236}">
                <a16:creationId xmlns:a16="http://schemas.microsoft.com/office/drawing/2014/main" id="{B71B514E-18D6-FF1F-4E85-5B7F9BA2D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56" y="4971894"/>
            <a:ext cx="4993674" cy="1361340"/>
          </a:xfrm>
          <a:prstGeom prst="rect">
            <a:avLst/>
          </a:prstGeom>
        </p:spPr>
      </p:pic>
      <p:pic>
        <p:nvPicPr>
          <p:cNvPr id="18" name="Grafik 17" descr="Ein Bild, das Reihe, Quittung, Diagramm enthält.&#10;&#10;KI-generierte Inhalte können fehlerhaft sein.">
            <a:extLst>
              <a:ext uri="{FF2B5EF4-FFF2-40B4-BE49-F238E27FC236}">
                <a16:creationId xmlns:a16="http://schemas.microsoft.com/office/drawing/2014/main" id="{F85774F5-F6ED-D5FA-DBC5-E5BBBE61F1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56" y="3224286"/>
            <a:ext cx="4993675" cy="1365899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9BB95D55-EAC2-E01A-7154-5C7B2ABF6B45}"/>
              </a:ext>
            </a:extLst>
          </p:cNvPr>
          <p:cNvSpPr txBox="1"/>
          <p:nvPr/>
        </p:nvSpPr>
        <p:spPr>
          <a:xfrm>
            <a:off x="742319" y="4613545"/>
            <a:ext cx="2030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 err="1"/>
              <a:t>Val_loss</a:t>
            </a:r>
            <a:r>
              <a:rPr lang="de-DE" sz="1200" b="1" dirty="0"/>
              <a:t> </a:t>
            </a:r>
            <a:r>
              <a:rPr lang="de-DE" sz="1200" b="1" dirty="0" err="1"/>
              <a:t>DNN_std</a:t>
            </a:r>
            <a:endParaRPr lang="de-DE" sz="1200" b="1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525B160-2806-DEF8-9237-17A87251BAE6}"/>
              </a:ext>
            </a:extLst>
          </p:cNvPr>
          <p:cNvSpPr txBox="1"/>
          <p:nvPr/>
        </p:nvSpPr>
        <p:spPr>
          <a:xfrm>
            <a:off x="742319" y="6333234"/>
            <a:ext cx="2030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 err="1"/>
              <a:t>Val_loss</a:t>
            </a:r>
            <a:r>
              <a:rPr lang="de-DE" sz="1200" b="1" dirty="0"/>
              <a:t> </a:t>
            </a:r>
            <a:r>
              <a:rPr lang="de-DE" sz="1200" b="1" dirty="0" err="1"/>
              <a:t>DNN_opt</a:t>
            </a:r>
            <a:endParaRPr lang="de-DE" sz="1200" b="1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328B410-4675-3C54-E42B-B6A58BE5F1B5}"/>
              </a:ext>
            </a:extLst>
          </p:cNvPr>
          <p:cNvSpPr txBox="1"/>
          <p:nvPr/>
        </p:nvSpPr>
        <p:spPr>
          <a:xfrm>
            <a:off x="742319" y="2530954"/>
            <a:ext cx="2030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 err="1"/>
              <a:t>DNN_opt</a:t>
            </a:r>
            <a:endParaRPr lang="de-DE" sz="1200" b="1" dirty="0"/>
          </a:p>
        </p:txBody>
      </p:sp>
    </p:spTree>
    <p:extLst>
      <p:ext uri="{BB962C8B-B14F-4D97-AF65-F5344CB8AC3E}">
        <p14:creationId xmlns:p14="http://schemas.microsoft.com/office/powerpoint/2010/main" val="3174937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8CC630-16B2-0F4E-077C-606DEBC0C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248" y="978408"/>
            <a:ext cx="626364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3100" dirty="0"/>
              <a:t>The Top Performer</a:t>
            </a:r>
            <a:br>
              <a:rPr lang="de-DE" sz="3100" dirty="0"/>
            </a:br>
            <a:br>
              <a:rPr lang="de-DE" sz="3100" dirty="0"/>
            </a:br>
            <a:r>
              <a:rPr lang="de-DE" sz="2400" dirty="0"/>
              <a:t>Mixed </a:t>
            </a:r>
            <a:r>
              <a:rPr lang="de-DE" sz="2400" dirty="0" err="1"/>
              <a:t>Gaussian</a:t>
            </a:r>
            <a:r>
              <a:rPr lang="de-DE" sz="2400" dirty="0"/>
              <a:t> </a:t>
            </a:r>
            <a:r>
              <a:rPr lang="de-DE" sz="2400" dirty="0" err="1"/>
              <a:t>Process</a:t>
            </a:r>
            <a:r>
              <a:rPr lang="de-DE" sz="2400" dirty="0"/>
              <a:t> via </a:t>
            </a:r>
            <a:r>
              <a:rPr lang="de-DE" sz="2400" dirty="0" err="1"/>
              <a:t>GPyTorch</a:t>
            </a:r>
            <a:endParaRPr lang="de-DE" sz="24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Graphic 7" descr="Cricket mit einfarbiger Füllung">
            <a:extLst>
              <a:ext uri="{FF2B5EF4-FFF2-40B4-BE49-F238E27FC236}">
                <a16:creationId xmlns:a16="http://schemas.microsoft.com/office/drawing/2014/main" id="{468EB9EC-7180-0B21-FA15-38EFEFAF2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451319" y="978408"/>
            <a:ext cx="1852765" cy="185276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9F5B1FE-2316-88EA-CE24-1C2E51CD7A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13248" y="2578608"/>
            <a:ext cx="6263640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230400" marR="0" lvl="0" indent="0" defTabSz="914400" rtl="0" eaLnBrk="0" fontAlgn="base" latinLnBrk="0" hangingPunct="0"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Kernel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Strategy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Combined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Matern 1.5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kernel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for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local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wiggles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with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Linear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kernel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for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global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trends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  <a:p>
            <a:pPr marL="230400" marR="0" lvl="0" indent="0" defTabSz="914400" rtl="0" eaLnBrk="0" fontAlgn="base" latinLnBrk="0" hangingPunct="0"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Automatic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Relevance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Determination (ARD):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Optimized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21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independent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lengthscales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to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learn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which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sensors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were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true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quality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drivers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230400" marR="0" lvl="0" indent="0" defTabSz="914400" rtl="0" eaLnBrk="0" fontAlgn="base" latinLnBrk="0" hangingPunct="0"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GPU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Acceleration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Used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RTX 3070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to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handle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heavy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matrix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math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turning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2-hour CPU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task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into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fast, iterative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process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230400" marR="0" lvl="0" indent="0" defTabSz="914400" rtl="0" eaLnBrk="0" fontAlgn="base" latinLnBrk="0" hangingPunct="0"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Result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Successfully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beat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R2=0.50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target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Grafik 5" descr="Ein Bild, das Reihe, Diagramm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B73AE18E-65A9-1359-689B-17C508A8F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3" y="3188208"/>
            <a:ext cx="5342175" cy="201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97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BF7BE5-46CC-16EC-BA21-6B31DD2B6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de-DE" dirty="0" err="1"/>
              <a:t>Conclusion</a:t>
            </a:r>
            <a:r>
              <a:rPr lang="de-DE" dirty="0"/>
              <a:t> &amp; Future Outlook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5177CA5C-117A-D9C0-6FBC-218A680C9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1436" y="1870215"/>
            <a:ext cx="5159356" cy="4261104"/>
          </a:xfrm>
        </p:spPr>
        <p:txBody>
          <a:bodyPr>
            <a:normAutofit fontScale="92500" lnSpcReduction="20000"/>
          </a:bodyPr>
          <a:lstStyle/>
          <a:p>
            <a:pPr marL="230400" lvl="0" indent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de-DE" altLang="de-DE" b="1" dirty="0">
                <a:latin typeface="Arial" panose="020B0604020202020204" pitchFamily="34" charset="0"/>
              </a:rPr>
              <a:t>Summary: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We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successfully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met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the</a:t>
            </a:r>
            <a:r>
              <a:rPr lang="de-DE" altLang="de-DE" dirty="0">
                <a:latin typeface="Arial" panose="020B0604020202020204" pitchFamily="34" charset="0"/>
              </a:rPr>
              <a:t> 0.50 R2 </a:t>
            </a:r>
            <a:r>
              <a:rPr lang="de-DE" altLang="de-DE" dirty="0" err="1">
                <a:latin typeface="Arial" panose="020B0604020202020204" pitchFamily="34" charset="0"/>
              </a:rPr>
              <a:t>goal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by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switching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from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standard</a:t>
            </a:r>
            <a:r>
              <a:rPr lang="de-DE" altLang="de-DE" dirty="0">
                <a:latin typeface="Arial" panose="020B0604020202020204" pitchFamily="34" charset="0"/>
              </a:rPr>
              <a:t> CPU </a:t>
            </a:r>
            <a:r>
              <a:rPr lang="de-DE" altLang="de-DE" dirty="0" err="1">
                <a:latin typeface="Arial" panose="020B0604020202020204" pitchFamily="34" charset="0"/>
              </a:rPr>
              <a:t>models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to</a:t>
            </a:r>
            <a:r>
              <a:rPr lang="de-DE" altLang="de-DE" dirty="0">
                <a:latin typeface="Arial" panose="020B0604020202020204" pitchFamily="34" charset="0"/>
              </a:rPr>
              <a:t> a GPU-</a:t>
            </a:r>
            <a:r>
              <a:rPr lang="de-DE" altLang="de-DE" dirty="0" err="1">
                <a:latin typeface="Arial" panose="020B0604020202020204" pitchFamily="34" charset="0"/>
              </a:rPr>
              <a:t>accelerated</a:t>
            </a:r>
            <a:r>
              <a:rPr lang="de-DE" altLang="de-DE" dirty="0">
                <a:latin typeface="Arial" panose="020B0604020202020204" pitchFamily="34" charset="0"/>
              </a:rPr>
              <a:t> Mixed </a:t>
            </a:r>
            <a:r>
              <a:rPr lang="de-DE" altLang="de-DE" dirty="0" err="1">
                <a:latin typeface="Arial" panose="020B0604020202020204" pitchFamily="34" charset="0"/>
              </a:rPr>
              <a:t>Gaussian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Process</a:t>
            </a:r>
            <a:r>
              <a:rPr lang="de-DE" altLang="de-DE" dirty="0">
                <a:latin typeface="Arial" panose="020B0604020202020204" pitchFamily="34" charset="0"/>
              </a:rPr>
              <a:t>.</a:t>
            </a:r>
          </a:p>
          <a:p>
            <a:pPr marL="230400" lvl="0" indent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230400" lvl="0" indent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de-DE" altLang="de-DE" b="1" dirty="0">
                <a:latin typeface="Arial" panose="020B0604020202020204" pitchFamily="34" charset="0"/>
              </a:rPr>
              <a:t>The "Honest" </a:t>
            </a:r>
            <a:r>
              <a:rPr lang="de-DE" altLang="de-DE" b="1" dirty="0" err="1">
                <a:latin typeface="Arial" panose="020B0604020202020204" pitchFamily="34" charset="0"/>
              </a:rPr>
              <a:t>Verdict</a:t>
            </a:r>
            <a:r>
              <a:rPr lang="de-DE" altLang="de-DE" b="1" dirty="0">
                <a:latin typeface="Arial" panose="020B0604020202020204" pitchFamily="34" charset="0"/>
              </a:rPr>
              <a:t>: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While</a:t>
            </a:r>
            <a:r>
              <a:rPr lang="de-DE" altLang="de-DE" dirty="0">
                <a:latin typeface="Arial" panose="020B0604020202020204" pitchFamily="34" charset="0"/>
              </a:rPr>
              <a:t> 0.52 </a:t>
            </a:r>
            <a:r>
              <a:rPr lang="de-DE" altLang="de-DE" dirty="0" err="1">
                <a:latin typeface="Arial" panose="020B0604020202020204" pitchFamily="34" charset="0"/>
              </a:rPr>
              <a:t>is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our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best</a:t>
            </a:r>
            <a:r>
              <a:rPr lang="de-DE" altLang="de-DE" dirty="0">
                <a:latin typeface="Arial" panose="020B0604020202020204" pitchFamily="34" charset="0"/>
              </a:rPr>
              <a:t> score, </a:t>
            </a:r>
            <a:r>
              <a:rPr lang="de-DE" altLang="de-DE" dirty="0" err="1">
                <a:latin typeface="Arial" panose="020B0604020202020204" pitchFamily="34" charset="0"/>
              </a:rPr>
              <a:t>it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remains</a:t>
            </a:r>
            <a:r>
              <a:rPr lang="de-DE" altLang="de-DE" dirty="0">
                <a:latin typeface="Arial" panose="020B0604020202020204" pitchFamily="34" charset="0"/>
              </a:rPr>
              <a:t> a </a:t>
            </a:r>
            <a:r>
              <a:rPr lang="de-DE" altLang="de-DE" b="1" dirty="0" err="1">
                <a:solidFill>
                  <a:srgbClr val="FF0000"/>
                </a:solidFill>
                <a:latin typeface="Arial" panose="020B0604020202020204" pitchFamily="34" charset="0"/>
              </a:rPr>
              <a:t>weak</a:t>
            </a:r>
            <a:r>
              <a:rPr lang="de-DE" altLang="de-DE" b="1" dirty="0">
                <a:solidFill>
                  <a:srgbClr val="FF0000"/>
                </a:solidFill>
                <a:latin typeface="Arial" panose="020B0604020202020204" pitchFamily="34" charset="0"/>
              </a:rPr>
              <a:t> fit</a:t>
            </a:r>
            <a:r>
              <a:rPr lang="de-DE" altLang="de-DE" dirty="0">
                <a:latin typeface="Arial" panose="020B0604020202020204" pitchFamily="34" charset="0"/>
              </a:rPr>
              <a:t>. 48% </a:t>
            </a:r>
            <a:r>
              <a:rPr lang="de-DE" altLang="de-DE" dirty="0" err="1">
                <a:latin typeface="Arial" panose="020B0604020202020204" pitchFamily="34" charset="0"/>
              </a:rPr>
              <a:t>of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the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variance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is</a:t>
            </a:r>
            <a:r>
              <a:rPr lang="de-DE" altLang="de-DE" dirty="0">
                <a:latin typeface="Arial" panose="020B0604020202020204" pitchFamily="34" charset="0"/>
              </a:rPr>
              <a:t> still </a:t>
            </a:r>
            <a:r>
              <a:rPr lang="de-DE" altLang="de-DE" dirty="0" err="1">
                <a:latin typeface="Arial" panose="020B0604020202020204" pitchFamily="34" charset="0"/>
              </a:rPr>
              <a:t>unexplained</a:t>
            </a:r>
            <a:r>
              <a:rPr lang="de-DE" altLang="de-DE" dirty="0">
                <a:latin typeface="Arial" panose="020B0604020202020204" pitchFamily="34" charset="0"/>
              </a:rPr>
              <a:t>.</a:t>
            </a:r>
          </a:p>
          <a:p>
            <a:pPr marL="230400" lvl="0" indent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230400" lvl="0" indent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de-DE" altLang="de-DE" b="1" dirty="0">
                <a:latin typeface="Arial" panose="020B0604020202020204" pitchFamily="34" charset="0"/>
              </a:rPr>
              <a:t>Next </a:t>
            </a:r>
            <a:r>
              <a:rPr lang="de-DE" altLang="de-DE" b="1" dirty="0" err="1">
                <a:latin typeface="Arial" panose="020B0604020202020204" pitchFamily="34" charset="0"/>
              </a:rPr>
              <a:t>Steps</a:t>
            </a:r>
            <a:r>
              <a:rPr lang="de-DE" altLang="de-DE" b="1" dirty="0">
                <a:latin typeface="Arial" panose="020B0604020202020204" pitchFamily="34" charset="0"/>
              </a:rPr>
              <a:t>:</a:t>
            </a:r>
            <a:endParaRPr lang="de-DE" altLang="de-DE" dirty="0">
              <a:latin typeface="Arial" panose="020B0604020202020204" pitchFamily="34" charset="0"/>
            </a:endParaRPr>
          </a:p>
          <a:p>
            <a:pPr marL="230400" lvl="0" indent="0" eaLnBrk="0" fontAlgn="base" hangingPunct="0">
              <a:lnSpc>
                <a:spcPct val="100000"/>
              </a:lnSpc>
              <a:spcAft>
                <a:spcPct val="0"/>
              </a:spcAft>
              <a:buNone/>
            </a:pPr>
            <a:r>
              <a:rPr lang="de-DE" altLang="de-DE" b="1" dirty="0">
                <a:latin typeface="Arial" panose="020B0604020202020204" pitchFamily="34" charset="0"/>
              </a:rPr>
              <a:t>Feature Engineering:</a:t>
            </a:r>
            <a:r>
              <a:rPr lang="de-DE" altLang="de-DE" dirty="0">
                <a:latin typeface="Arial" panose="020B0604020202020204" pitchFamily="34" charset="0"/>
              </a:rPr>
              <a:t> Look </a:t>
            </a:r>
            <a:r>
              <a:rPr lang="de-DE" altLang="de-DE" dirty="0" err="1">
                <a:latin typeface="Arial" panose="020B0604020202020204" pitchFamily="34" charset="0"/>
              </a:rPr>
              <a:t>for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physical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relationships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between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sensors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to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create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new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inputs</a:t>
            </a:r>
            <a:r>
              <a:rPr lang="de-DE" altLang="de-DE" dirty="0">
                <a:latin typeface="Arial" panose="020B0604020202020204" pitchFamily="34" charset="0"/>
              </a:rPr>
              <a:t>.</a:t>
            </a:r>
          </a:p>
          <a:p>
            <a:pPr marL="230400" lvl="0" indent="0" eaLnBrk="0" fontAlgn="base" hangingPunct="0">
              <a:lnSpc>
                <a:spcPct val="100000"/>
              </a:lnSpc>
              <a:spcAft>
                <a:spcPct val="0"/>
              </a:spcAft>
              <a:buNone/>
            </a:pPr>
            <a:r>
              <a:rPr lang="de-DE" altLang="de-DE" b="1" dirty="0">
                <a:latin typeface="Arial" panose="020B0604020202020204" pitchFamily="34" charset="0"/>
              </a:rPr>
              <a:t>Data Quality: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Investigate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the</a:t>
            </a:r>
            <a:r>
              <a:rPr lang="de-DE" altLang="de-DE" dirty="0">
                <a:latin typeface="Arial" panose="020B0604020202020204" pitchFamily="34" charset="0"/>
              </a:rPr>
              <a:t> "</a:t>
            </a:r>
            <a:r>
              <a:rPr lang="de-DE" altLang="de-DE" dirty="0" err="1">
                <a:latin typeface="Arial" panose="020B0604020202020204" pitchFamily="34" charset="0"/>
              </a:rPr>
              <a:t>discrete</a:t>
            </a:r>
            <a:r>
              <a:rPr lang="de-DE" altLang="de-DE" dirty="0">
                <a:latin typeface="Arial" panose="020B0604020202020204" pitchFamily="34" charset="0"/>
              </a:rPr>
              <a:t>" </a:t>
            </a:r>
            <a:r>
              <a:rPr lang="de-DE" altLang="de-DE" dirty="0" err="1">
                <a:latin typeface="Arial" panose="020B0604020202020204" pitchFamily="34" charset="0"/>
              </a:rPr>
              <a:t>steps</a:t>
            </a:r>
            <a:r>
              <a:rPr lang="de-DE" altLang="de-DE" dirty="0">
                <a:latin typeface="Arial" panose="020B0604020202020204" pitchFamily="34" charset="0"/>
              </a:rPr>
              <a:t> in </a:t>
            </a:r>
            <a:r>
              <a:rPr lang="de-DE" altLang="de-DE" dirty="0" err="1">
                <a:latin typeface="Arial" panose="020B0604020202020204" pitchFamily="34" charset="0"/>
              </a:rPr>
              <a:t>the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output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to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see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if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higher</a:t>
            </a:r>
            <a:r>
              <a:rPr lang="de-DE" altLang="de-DE" dirty="0">
                <a:latin typeface="Arial" panose="020B0604020202020204" pitchFamily="34" charset="0"/>
              </a:rPr>
              <a:t>-resolution </a:t>
            </a:r>
            <a:r>
              <a:rPr lang="de-DE" altLang="de-DE" dirty="0" err="1">
                <a:latin typeface="Arial" panose="020B0604020202020204" pitchFamily="34" charset="0"/>
              </a:rPr>
              <a:t>data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is</a:t>
            </a:r>
            <a:r>
              <a:rPr lang="de-DE" altLang="de-DE" dirty="0"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latin typeface="Arial" panose="020B0604020202020204" pitchFamily="34" charset="0"/>
              </a:rPr>
              <a:t>available</a:t>
            </a:r>
            <a:r>
              <a:rPr lang="de-DE" altLang="de-DE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altLang="de-DE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de-DE" dirty="0"/>
          </a:p>
        </p:txBody>
      </p:sp>
      <p:pic>
        <p:nvPicPr>
          <p:cNvPr id="16" name="Grafik 1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8240066-F5BB-715C-9E63-19B9C8E53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57" y="1635777"/>
            <a:ext cx="4416138" cy="2537389"/>
          </a:xfrm>
          <a:prstGeom prst="rect">
            <a:avLst/>
          </a:prstGeom>
        </p:spPr>
      </p:pic>
      <p:pic>
        <p:nvPicPr>
          <p:cNvPr id="18" name="Grafik 17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093ACE9B-A06B-7240-56FE-DE1CF5735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57" y="4307681"/>
            <a:ext cx="3962953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0733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Override1.xml><?xml version="1.0" encoding="utf-8"?>
<a:themeOverride xmlns:a="http://schemas.openxmlformats.org/drawingml/2006/main">
  <a:clrScheme name="Gestalt">
    <a:dk1>
      <a:srgbClr val="000000"/>
    </a:dk1>
    <a:lt1>
      <a:sysClr val="window" lastClr="FFFFFF"/>
    </a:lt1>
    <a:dk2>
      <a:srgbClr val="262626"/>
    </a:dk2>
    <a:lt2>
      <a:srgbClr val="F7F7F7"/>
    </a:lt2>
    <a:accent1>
      <a:srgbClr val="EBA000"/>
    </a:accent1>
    <a:accent2>
      <a:srgbClr val="00BAC8"/>
    </a:accent2>
    <a:accent3>
      <a:srgbClr val="E64823"/>
    </a:accent3>
    <a:accent4>
      <a:srgbClr val="4D5AFF"/>
    </a:accent4>
    <a:accent5>
      <a:srgbClr val="FE5D21"/>
    </a:accent5>
    <a:accent6>
      <a:srgbClr val="00C777"/>
    </a:accent6>
    <a:hlink>
      <a:srgbClr val="2998E3"/>
    </a:hlink>
    <a:folHlink>
      <a:srgbClr val="93939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519</Words>
  <Application>Microsoft Office PowerPoint</Application>
  <PresentationFormat>Breitbild</PresentationFormat>
  <Paragraphs>41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Arial Unicode MS</vt:lpstr>
      <vt:lpstr>Bierstadt</vt:lpstr>
      <vt:lpstr>GestaltVTI</vt:lpstr>
      <vt:lpstr>P1- Steel Production Data</vt:lpstr>
      <vt:lpstr>Project Overview &amp; Objectives</vt:lpstr>
      <vt:lpstr>PowerPoint-Präsentation</vt:lpstr>
      <vt:lpstr>Why Simple Models Were Destined to Fail </vt:lpstr>
      <vt:lpstr>The Deep Learning Pivot  Optimizing the Neural Network (NNopt)</vt:lpstr>
      <vt:lpstr>The Top Performer  Mixed Gaussian Process via GPyTorch</vt:lpstr>
      <vt:lpstr>Conclusion &amp; Future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Strümpl</dc:creator>
  <cp:lastModifiedBy>Markus Strümpl</cp:lastModifiedBy>
  <cp:revision>4</cp:revision>
  <dcterms:created xsi:type="dcterms:W3CDTF">2026-01-13T19:17:05Z</dcterms:created>
  <dcterms:modified xsi:type="dcterms:W3CDTF">2026-01-13T20:10:52Z</dcterms:modified>
</cp:coreProperties>
</file>